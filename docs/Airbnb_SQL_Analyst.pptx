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ab4ba95-75f4-8039-81ea-03d438e18853}">
          <p14:sldIdLst>
            <p14:sldId id="256"/>
            <p14:sldId id="257"/>
          </p14:sldIdLst>
        </p14:section>
        <p14:section name="How it works" id="{663677e4-7f95-39c2-e3d9-f38ae8f605db}">
          <p14:sldIdLst>
            <p14:sldId id="258"/>
            <p14:sldId id="259"/>
          </p14:sldIdLst>
        </p14:section>
        <p14:section name="Safety" id="{721f1915-8e68-c700-1945-260c29fad517}">
          <p14:sldIdLst>
            <p14:sldId id="260"/>
            <p14:sldId id="261"/>
          </p14:sldIdLst>
        </p14:section>
        <p14:section name="Quality" id="{36be756e-906a-d752-8cd2-d68fae321409}">
          <p14:sldIdLst>
            <p14:sldId id="262"/>
            <p14:sldId id="263"/>
            <p14:sldId id="264"/>
          </p14:sldIdLst>
        </p14:section>
        <p14:section name="Delivery" id="{a178dd17-232b-5105-3a79-6968c187a064}">
          <p14:sldIdLst>
            <p14:sldId id="265"/>
            <p14:sldId id="266"/>
          </p14:sldIdLst>
        </p14:section>
        <p14:section name="Summary" id="{6775bf1a-3edb-8f95-4b18-ed59b7a7479a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3B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1F3B"/>
                </a:solidFill>
                <a:latin typeface="+mn-lt"/>
              </a:rPr>
              <a:t>27 gold eval cases by category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E8604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3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Guardrail</c:v>
                  </c:pt>
                  <c:pt idx="1">
                    <c:v>Aggregation</c:v>
                  </c:pt>
                  <c:pt idx="2">
                    <c:v>Simple</c:v>
                  </c:pt>
                  <c:pt idx="3">
                    <c:v>Join</c:v>
                  </c:pt>
                  <c:pt idx="4">
                    <c:v>Ranking</c:v>
                  </c:pt>
                  <c:pt idx="5">
                    <c:v>Time series</c:v>
                  </c:pt>
                  <c:pt idx="6">
                    <c:v>Follow-up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</c:v>
                </c:pt>
                <c:pt idx="1">
                  <c:v>5</c:v>
                </c:pt>
                <c:pt idx="2">
                  <c:v>4</c:v>
                </c:pt>
                <c:pt idx="3">
                  <c:v>4</c:v>
                </c:pt>
                <c:pt idx="4">
                  <c:v>3</c:v>
                </c:pt>
                <c:pt idx="5">
                  <c:v>2</c:v>
                </c:pt>
                <c:pt idx="6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1F3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0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Airbnb SQL Analyst turns natural-language questions into safe, read-only PostgreSQL, runs them, and streams back an answer with a table, a chart and the SQL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1460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Airbnb SQL Analyst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Airbnb SQL Analyst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146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Ask questions in plain English. Get safe SQL, a table, a chart and a streamed answer.</a:t>
            </a:r>
            <a:endParaRPr lang="en-US" sz="2000" dirty="0"/>
          </a:p>
        </p:txBody>
      </p:sp>
      <p:sp>
        <p:nvSpPr>
          <p:cNvPr id="4" name="Database circle"/>
          <p:cNvSpPr/>
          <p:nvPr/>
        </p:nvSpPr>
        <p:spPr>
          <a:xfrm>
            <a:off x="548640" y="548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Database icon" descr="Datab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70866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38404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LangGraph  ·  FastAPI  ·  React  ·  PostgreSQL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06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Ankit Bisen  ·  October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question to a verified answer</a:t>
            </a:r>
            <a:endParaRPr lang="en-US" sz="3000" dirty="0"/>
          </a:p>
        </p:txBody>
      </p:sp>
      <p:sp>
        <p:nvSpPr>
          <p:cNvPr id="3" name="Example question"/>
          <p:cNvSpPr/>
          <p:nvPr/>
        </p:nvSpPr>
        <p:spPr>
          <a:xfrm>
            <a:off x="457200" y="1097280"/>
            <a:ext cx="8229600" cy="685800"/>
          </a:xfrm>
          <a:prstGeom prst="roundRect">
            <a:avLst>
              <a:gd name="adj" fmla="val 10667"/>
            </a:avLst>
          </a:prstGeom>
          <a:solidFill>
            <a:schemeClr val="tx1"/>
          </a:solidFill>
          <a:ln/>
        </p:spPr>
      </p:sp>
      <p:sp>
        <p:nvSpPr>
          <p:cNvPr id="4" name="Question circle"/>
          <p:cNvSpPr/>
          <p:nvPr/>
        </p:nvSpPr>
        <p:spPr>
          <a:xfrm>
            <a:off x="640080" y="11887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Question icon" descr="Ques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31445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09728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“What is the average price per room type?”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   →   answer + table + chart + SQL</a:t>
            </a:r>
            <a:endParaRPr lang="en-US" sz="1400" dirty="0"/>
          </a:p>
        </p:txBody>
      </p:sp>
      <p:sp>
        <p:nvSpPr>
          <p:cNvPr id="7" name="AI agent card"/>
          <p:cNvSpPr/>
          <p:nvPr/>
        </p:nvSpPr>
        <p:spPr>
          <a:xfrm>
            <a:off x="457200" y="2057400"/>
            <a:ext cx="2560320" cy="2423160"/>
          </a:xfrm>
          <a:prstGeom prst="roundRect">
            <a:avLst>
              <a:gd name="adj" fmla="val 3019"/>
            </a:avLst>
          </a:prstGeom>
          <a:solidFill>
            <a:schemeClr val="bg2"/>
          </a:solidFill>
          <a:ln/>
        </p:spPr>
      </p:sp>
      <p:sp>
        <p:nvSpPr>
          <p:cNvPr id="8" name="AI agent circle"/>
          <p:cNvSpPr/>
          <p:nvPr/>
        </p:nvSpPr>
        <p:spPr>
          <a:xfrm>
            <a:off x="731520" y="22860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AI agent icon" descr="AI age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110" y="2434590"/>
            <a:ext cx="297180" cy="2971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31520" y="3017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agent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731520" y="33832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LangGraph pipeline that writes safe, read-only SQL, runs it, picks a chart and explains the result.</a:t>
            </a:r>
            <a:endParaRPr lang="en-US" sz="1300" dirty="0"/>
          </a:p>
        </p:txBody>
      </p:sp>
      <p:sp>
        <p:nvSpPr>
          <p:cNvPr id="12" name="Backend card"/>
          <p:cNvSpPr/>
          <p:nvPr/>
        </p:nvSpPr>
        <p:spPr>
          <a:xfrm>
            <a:off x="3291840" y="2057400"/>
            <a:ext cx="2560320" cy="2423160"/>
          </a:xfrm>
          <a:prstGeom prst="roundRect">
            <a:avLst>
              <a:gd name="adj" fmla="val 3019"/>
            </a:avLst>
          </a:prstGeom>
          <a:solidFill>
            <a:schemeClr val="bg2"/>
          </a:solidFill>
          <a:ln/>
        </p:spPr>
      </p:sp>
      <p:sp>
        <p:nvSpPr>
          <p:cNvPr id="13" name="Backend circle"/>
          <p:cNvSpPr/>
          <p:nvPr/>
        </p:nvSpPr>
        <p:spPr>
          <a:xfrm>
            <a:off x="3566160" y="228600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4" name="Backend icon" descr="Backen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750" y="2434590"/>
            <a:ext cx="297180" cy="2971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566160" y="3017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3566160" y="33832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FastAPI service that streams the agent's progress to the browser with Server-Sent Events.</a:t>
            </a:r>
            <a:endParaRPr lang="en-US" sz="1300" dirty="0"/>
          </a:p>
        </p:txBody>
      </p:sp>
      <p:sp>
        <p:nvSpPr>
          <p:cNvPr id="17" name="Frontend card"/>
          <p:cNvSpPr/>
          <p:nvPr/>
        </p:nvSpPr>
        <p:spPr>
          <a:xfrm>
            <a:off x="6126480" y="2057400"/>
            <a:ext cx="2560320" cy="2423160"/>
          </a:xfrm>
          <a:prstGeom prst="roundRect">
            <a:avLst>
              <a:gd name="adj" fmla="val 3019"/>
            </a:avLst>
          </a:prstGeom>
          <a:solidFill>
            <a:schemeClr val="bg2"/>
          </a:solidFill>
          <a:ln/>
        </p:spPr>
      </p:sp>
      <p:sp>
        <p:nvSpPr>
          <p:cNvPr id="18" name="Frontend circle"/>
          <p:cNvSpPr/>
          <p:nvPr/>
        </p:nvSpPr>
        <p:spPr>
          <a:xfrm>
            <a:off x="6400800" y="228600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9" name="Frontend icon" descr="Fronten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9390" y="2434590"/>
            <a:ext cx="297180" cy="29718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400800" y="3017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6400800" y="33832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React chat UI with streaming text, Recharts charts, data tables, CSV export and dark mode.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request path, read-only to the core</a:t>
            </a:r>
            <a:endParaRPr lang="en-US" sz="3000" dirty="0"/>
          </a:p>
        </p:txBody>
      </p:sp>
      <p:sp>
        <p:nvSpPr>
          <p:cNvPr id="3" name="Browser box"/>
          <p:cNvSpPr/>
          <p:nvPr/>
        </p:nvSpPr>
        <p:spPr>
          <a:xfrm>
            <a:off x="457200" y="1417320"/>
            <a:ext cx="187452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4" name="Browser circle"/>
          <p:cNvSpPr/>
          <p:nvPr/>
        </p:nvSpPr>
        <p:spPr>
          <a:xfrm>
            <a:off x="1097280" y="160020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5" name="Browser icon" descr="Brows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5870" y="174879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2860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Browser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6060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React + Recharts</a:t>
            </a:r>
            <a:endParaRPr lang="en-US" sz="1200" dirty="0"/>
          </a:p>
        </p:txBody>
      </p:sp>
      <p:sp>
        <p:nvSpPr>
          <p:cNvPr id="8" name="arrow 0"/>
          <p:cNvSpPr/>
          <p:nvPr/>
        </p:nvSpPr>
        <p:spPr>
          <a:xfrm>
            <a:off x="2377440" y="2286000"/>
            <a:ext cx="36576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9" name="FastAPI box"/>
          <p:cNvSpPr/>
          <p:nvPr/>
        </p:nvSpPr>
        <p:spPr>
          <a:xfrm>
            <a:off x="2788920" y="1417320"/>
            <a:ext cx="187452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0" name="FastAPI circle"/>
          <p:cNvSpPr/>
          <p:nvPr/>
        </p:nvSpPr>
        <p:spPr>
          <a:xfrm>
            <a:off x="3429000" y="160020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FastAPI icon" descr="FastAP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7590" y="1748790"/>
            <a:ext cx="297180" cy="2971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880360" y="22860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FastAPI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2880360" y="26060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Auth · rate limit · logging</a:t>
            </a:r>
            <a:endParaRPr lang="en-US" sz="1200" dirty="0"/>
          </a:p>
        </p:txBody>
      </p:sp>
      <p:sp>
        <p:nvSpPr>
          <p:cNvPr id="14" name="arrow 1"/>
          <p:cNvSpPr/>
          <p:nvPr/>
        </p:nvSpPr>
        <p:spPr>
          <a:xfrm>
            <a:off x="4709160" y="2286000"/>
            <a:ext cx="36576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5" name="LangGraph agent box"/>
          <p:cNvSpPr/>
          <p:nvPr/>
        </p:nvSpPr>
        <p:spPr>
          <a:xfrm>
            <a:off x="5120640" y="1417320"/>
            <a:ext cx="187452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6" name="LangGraph agent circle"/>
          <p:cNvSpPr/>
          <p:nvPr/>
        </p:nvSpPr>
        <p:spPr>
          <a:xfrm>
            <a:off x="5760720" y="16002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LangGraph agent icon" descr="LangGraph agen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9310" y="1748790"/>
            <a:ext cx="297180" cy="29718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212080" y="22860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LangGraph agent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5212080" y="26060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Guardrails · SQL · charts</a:t>
            </a:r>
            <a:endParaRPr lang="en-US" sz="1200" dirty="0"/>
          </a:p>
        </p:txBody>
      </p:sp>
      <p:sp>
        <p:nvSpPr>
          <p:cNvPr id="20" name="arrow llm"/>
          <p:cNvSpPr/>
          <p:nvPr/>
        </p:nvSpPr>
        <p:spPr>
          <a:xfrm flipV="1">
            <a:off x="6995160" y="1508760"/>
            <a:ext cx="320040" cy="50292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1" name="arrow db"/>
          <p:cNvSpPr/>
          <p:nvPr/>
        </p:nvSpPr>
        <p:spPr>
          <a:xfrm>
            <a:off x="6995160" y="2560320"/>
            <a:ext cx="320040" cy="50292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2" name="LLM box"/>
          <p:cNvSpPr/>
          <p:nvPr/>
        </p:nvSpPr>
        <p:spPr>
          <a:xfrm>
            <a:off x="7360920" y="960120"/>
            <a:ext cx="1325880" cy="1051560"/>
          </a:xfrm>
          <a:prstGeom prst="roundRect">
            <a:avLst>
              <a:gd name="adj" fmla="val 6957"/>
            </a:avLst>
          </a:prstGeom>
          <a:solidFill>
            <a:schemeClr val="tx1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7452360" y="1005840"/>
            <a:ext cx="1143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OpenAI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low / medium / high tiers</a:t>
            </a:r>
            <a:endParaRPr lang="en-US" sz="1400" dirty="0"/>
          </a:p>
        </p:txBody>
      </p:sp>
      <p:sp>
        <p:nvSpPr>
          <p:cNvPr id="24" name="DB box"/>
          <p:cNvSpPr/>
          <p:nvPr/>
        </p:nvSpPr>
        <p:spPr>
          <a:xfrm>
            <a:off x="7360920" y="2606040"/>
            <a:ext cx="1325880" cy="1143000"/>
          </a:xfrm>
          <a:prstGeom prst="roundRect">
            <a:avLst>
              <a:gd name="adj" fmla="val 6400"/>
            </a:avLst>
          </a:prstGeom>
          <a:solidFill>
            <a:schemeClr val="tx1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7452360" y="2651760"/>
            <a:ext cx="1143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PostgreSQL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analyst_ro role, READ ONLY txn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457200" y="3886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Streaming: 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each agent step emits events (status, sql, result, chart, token, done) that FastAPI forwards as SSE, so the UI updates as the work happens.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steps from question to answer</a:t>
            </a:r>
            <a:endParaRPr lang="en-US" sz="3000" dirty="0"/>
          </a:p>
        </p:txBody>
      </p:sp>
      <p:sp>
        <p:nvSpPr>
          <p:cNvPr id="3" name="step 1"/>
          <p:cNvSpPr/>
          <p:nvPr/>
        </p:nvSpPr>
        <p:spPr>
          <a:xfrm>
            <a:off x="457200" y="1143000"/>
            <a:ext cx="187452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4" name="step num 1"/>
          <p:cNvSpPr/>
          <p:nvPr/>
        </p:nvSpPr>
        <p:spPr>
          <a:xfrm>
            <a:off x="566928" y="1298448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298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50976" y="1280160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input_guardrail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7373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Regex check for write intent, PII and injection</a:t>
            </a:r>
            <a:endParaRPr lang="en-US" sz="1200" dirty="0"/>
          </a:p>
        </p:txBody>
      </p:sp>
      <p:sp>
        <p:nvSpPr>
          <p:cNvPr id="8" name="step arrow 0"/>
          <p:cNvSpPr/>
          <p:nvPr/>
        </p:nvSpPr>
        <p:spPr>
          <a:xfrm>
            <a:off x="2350008" y="1783080"/>
            <a:ext cx="192024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9" name="step 2"/>
          <p:cNvSpPr/>
          <p:nvPr/>
        </p:nvSpPr>
        <p:spPr>
          <a:xfrm>
            <a:off x="2560320" y="1143000"/>
            <a:ext cx="187452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0" name="step num 2"/>
          <p:cNvSpPr/>
          <p:nvPr/>
        </p:nvSpPr>
        <p:spPr>
          <a:xfrm>
            <a:off x="2670048" y="129844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670048" y="1298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054096" y="1280160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curate_question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697480" y="17373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Low model: intent + standalone question</a:t>
            </a:r>
            <a:endParaRPr lang="en-US" sz="1200" dirty="0"/>
          </a:p>
        </p:txBody>
      </p:sp>
      <p:sp>
        <p:nvSpPr>
          <p:cNvPr id="14" name="step arrow 1"/>
          <p:cNvSpPr/>
          <p:nvPr/>
        </p:nvSpPr>
        <p:spPr>
          <a:xfrm>
            <a:off x="4453128" y="1783080"/>
            <a:ext cx="192024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5" name="step 3"/>
          <p:cNvSpPr/>
          <p:nvPr/>
        </p:nvSpPr>
        <p:spPr>
          <a:xfrm>
            <a:off x="4663440" y="1143000"/>
            <a:ext cx="187452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6" name="step num 3"/>
          <p:cNvSpPr/>
          <p:nvPr/>
        </p:nvSpPr>
        <p:spPr>
          <a:xfrm>
            <a:off x="4773168" y="129844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773168" y="1298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157216" y="1280160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prompt_context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800600" y="17373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Cached schema, sensitive columns hidden</a:t>
            </a:r>
            <a:endParaRPr lang="en-US" sz="1200" dirty="0"/>
          </a:p>
        </p:txBody>
      </p:sp>
      <p:sp>
        <p:nvSpPr>
          <p:cNvPr id="20" name="step arrow 2"/>
          <p:cNvSpPr/>
          <p:nvPr/>
        </p:nvSpPr>
        <p:spPr>
          <a:xfrm>
            <a:off x="6556248" y="1783080"/>
            <a:ext cx="192024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1" name="step 4"/>
          <p:cNvSpPr/>
          <p:nvPr/>
        </p:nvSpPr>
        <p:spPr>
          <a:xfrm>
            <a:off x="6766560" y="1143000"/>
            <a:ext cx="187452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22" name="step num 4"/>
          <p:cNvSpPr/>
          <p:nvPr/>
        </p:nvSpPr>
        <p:spPr>
          <a:xfrm>
            <a:off x="6876288" y="129844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76288" y="1298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260336" y="1280160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generate_sql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903720" y="17373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Medium model; high model on retry</a:t>
            </a:r>
            <a:endParaRPr lang="en-US" sz="1200" dirty="0"/>
          </a:p>
        </p:txBody>
      </p:sp>
      <p:sp>
        <p:nvSpPr>
          <p:cNvPr id="26" name="step 5"/>
          <p:cNvSpPr/>
          <p:nvPr/>
        </p:nvSpPr>
        <p:spPr>
          <a:xfrm>
            <a:off x="457200" y="2651760"/>
            <a:ext cx="187452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27" name="step num 5"/>
          <p:cNvSpPr/>
          <p:nvPr/>
        </p:nvSpPr>
        <p:spPr>
          <a:xfrm>
            <a:off x="566928" y="2807208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66928" y="2807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50976" y="2788920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is_safe_sql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94360" y="3246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sqlglot validator + LLM judge</a:t>
            </a:r>
            <a:endParaRPr lang="en-US" sz="1200" dirty="0"/>
          </a:p>
        </p:txBody>
      </p:sp>
      <p:sp>
        <p:nvSpPr>
          <p:cNvPr id="31" name="step arrow 4"/>
          <p:cNvSpPr/>
          <p:nvPr/>
        </p:nvSpPr>
        <p:spPr>
          <a:xfrm>
            <a:off x="2350008" y="3291840"/>
            <a:ext cx="192024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2" name="step 6"/>
          <p:cNvSpPr/>
          <p:nvPr/>
        </p:nvSpPr>
        <p:spPr>
          <a:xfrm>
            <a:off x="2560320" y="2651760"/>
            <a:ext cx="187452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33" name="step num 6"/>
          <p:cNvSpPr/>
          <p:nvPr/>
        </p:nvSpPr>
        <p:spPr>
          <a:xfrm>
            <a:off x="2670048" y="280720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2670048" y="2807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3054096" y="2788920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execute_sql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2697480" y="3246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Read-only transaction, PII redaction</a:t>
            </a:r>
            <a:endParaRPr lang="en-US" sz="1200" dirty="0"/>
          </a:p>
        </p:txBody>
      </p:sp>
      <p:sp>
        <p:nvSpPr>
          <p:cNvPr id="37" name="step arrow 5"/>
          <p:cNvSpPr/>
          <p:nvPr/>
        </p:nvSpPr>
        <p:spPr>
          <a:xfrm>
            <a:off x="4453128" y="3291840"/>
            <a:ext cx="192024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8" name="step 7"/>
          <p:cNvSpPr/>
          <p:nvPr/>
        </p:nvSpPr>
        <p:spPr>
          <a:xfrm>
            <a:off x="4663440" y="2651760"/>
            <a:ext cx="187452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39" name="step num 7"/>
          <p:cNvSpPr/>
          <p:nvPr/>
        </p:nvSpPr>
        <p:spPr>
          <a:xfrm>
            <a:off x="4773168" y="280720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4773168" y="2807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5157216" y="2788920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choose_visualization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4800600" y="3246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Deterministic chart picker</a:t>
            </a:r>
            <a:endParaRPr lang="en-US" sz="1200" dirty="0"/>
          </a:p>
        </p:txBody>
      </p:sp>
      <p:sp>
        <p:nvSpPr>
          <p:cNvPr id="43" name="step arrow 6"/>
          <p:cNvSpPr/>
          <p:nvPr/>
        </p:nvSpPr>
        <p:spPr>
          <a:xfrm>
            <a:off x="6556248" y="3291840"/>
            <a:ext cx="192024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44" name="step 8"/>
          <p:cNvSpPr/>
          <p:nvPr/>
        </p:nvSpPr>
        <p:spPr>
          <a:xfrm>
            <a:off x="6766560" y="2651760"/>
            <a:ext cx="187452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45" name="step num 8"/>
          <p:cNvSpPr/>
          <p:nvPr/>
        </p:nvSpPr>
        <p:spPr>
          <a:xfrm>
            <a:off x="6876288" y="280720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876288" y="2807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7260336" y="2788920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final_answer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6903720" y="3246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Streams the answer token by token</a:t>
            </a:r>
            <a:endParaRPr lang="en-US" sz="1200" dirty="0"/>
          </a:p>
        </p:txBody>
      </p:sp>
      <p:sp>
        <p:nvSpPr>
          <p:cNvPr id="49" name="Retry circle"/>
          <p:cNvSpPr/>
          <p:nvPr/>
        </p:nvSpPr>
        <p:spPr>
          <a:xfrm>
            <a:off x="457200" y="420624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0" name="Retry icon" descr="Retr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297680"/>
            <a:ext cx="182880" cy="182880"/>
          </a:xfrm>
          <a:prstGeom prst="rect">
            <a:avLst/>
          </a:prstGeom>
        </p:spPr>
      </p:pic>
      <p:sp>
        <p:nvSpPr>
          <p:cNvPr id="51" name="Text 48"/>
          <p:cNvSpPr txBox="1"/>
          <p:nvPr/>
        </p:nvSpPr>
        <p:spPr>
          <a:xfrm>
            <a:off x="960120" y="4206240"/>
            <a:ext cx="7726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Self-correction: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on a database error, the high-tier model rewrites the SQL (up to 2 retries).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independent layers block database writes</a:t>
            </a:r>
            <a:endParaRPr lang="en-US" sz="3000" dirty="0"/>
          </a:p>
        </p:txBody>
      </p:sp>
      <p:sp>
        <p:nvSpPr>
          <p:cNvPr id="3" name="layer 1"/>
          <p:cNvSpPr/>
          <p:nvPr/>
        </p:nvSpPr>
        <p:spPr>
          <a:xfrm>
            <a:off x="457200" y="1097280"/>
            <a:ext cx="822960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</p:sp>
      <p:sp>
        <p:nvSpPr>
          <p:cNvPr id="4" name="layer num 1"/>
          <p:cNvSpPr/>
          <p:nvPr/>
        </p:nvSpPr>
        <p:spPr>
          <a:xfrm>
            <a:off x="594360" y="1197864"/>
            <a:ext cx="365760" cy="36576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197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09728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Input guard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1097280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Regex before any LLM call: “delete…”, “drop table”, stacked SQL</a:t>
            </a:r>
            <a:endParaRPr lang="en-US" sz="1200" dirty="0"/>
          </a:p>
        </p:txBody>
      </p:sp>
      <p:sp>
        <p:nvSpPr>
          <p:cNvPr id="8" name="layer tag 1"/>
          <p:cNvSpPr/>
          <p:nvPr/>
        </p:nvSpPr>
        <p:spPr>
          <a:xfrm>
            <a:off x="7406640" y="1243584"/>
            <a:ext cx="114300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06640" y="124358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Deterministic</a:t>
            </a:r>
            <a:endParaRPr lang="en-US" sz="1100" dirty="0"/>
          </a:p>
        </p:txBody>
      </p:sp>
      <p:sp>
        <p:nvSpPr>
          <p:cNvPr id="10" name="layer 2"/>
          <p:cNvSpPr/>
          <p:nvPr/>
        </p:nvSpPr>
        <p:spPr>
          <a:xfrm>
            <a:off x="457200" y="1783080"/>
            <a:ext cx="822960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</p:sp>
      <p:sp>
        <p:nvSpPr>
          <p:cNvPr id="11" name="layer num 2"/>
          <p:cNvSpPr/>
          <p:nvPr/>
        </p:nvSpPr>
        <p:spPr>
          <a:xfrm>
            <a:off x="594360" y="1883664"/>
            <a:ext cx="365760" cy="36576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1883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178308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LLM intent classifier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383280" y="1783080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Catches paraphrases like “make a new table for me”</a:t>
            </a:r>
            <a:endParaRPr lang="en-US" sz="1200" dirty="0"/>
          </a:p>
        </p:txBody>
      </p:sp>
      <p:sp>
        <p:nvSpPr>
          <p:cNvPr id="15" name="layer tag 2"/>
          <p:cNvSpPr/>
          <p:nvPr/>
        </p:nvSpPr>
        <p:spPr>
          <a:xfrm>
            <a:off x="7406640" y="1929384"/>
            <a:ext cx="1143000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406640" y="192938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LLM</a:t>
            </a:r>
            <a:endParaRPr lang="en-US" sz="1100" dirty="0"/>
          </a:p>
        </p:txBody>
      </p:sp>
      <p:sp>
        <p:nvSpPr>
          <p:cNvPr id="17" name="layer 3"/>
          <p:cNvSpPr/>
          <p:nvPr/>
        </p:nvSpPr>
        <p:spPr>
          <a:xfrm>
            <a:off x="457200" y="2468880"/>
            <a:ext cx="822960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</p:sp>
      <p:sp>
        <p:nvSpPr>
          <p:cNvPr id="18" name="layer num 3"/>
          <p:cNvSpPr/>
          <p:nvPr/>
        </p:nvSpPr>
        <p:spPr>
          <a:xfrm>
            <a:off x="594360" y="2569464"/>
            <a:ext cx="365760" cy="36576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94360" y="2569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246888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SQL validator (sqlglot)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3383280" y="2468880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One SELECT only; no DDL/DML, risky functions or system tables; LIMIT cap</a:t>
            </a:r>
            <a:endParaRPr lang="en-US" sz="1200" dirty="0"/>
          </a:p>
        </p:txBody>
      </p:sp>
      <p:sp>
        <p:nvSpPr>
          <p:cNvPr id="22" name="layer tag 3"/>
          <p:cNvSpPr/>
          <p:nvPr/>
        </p:nvSpPr>
        <p:spPr>
          <a:xfrm>
            <a:off x="7406640" y="2615184"/>
            <a:ext cx="114300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406640" y="261518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Deterministic</a:t>
            </a:r>
            <a:endParaRPr lang="en-US" sz="1100" dirty="0"/>
          </a:p>
        </p:txBody>
      </p:sp>
      <p:sp>
        <p:nvSpPr>
          <p:cNvPr id="24" name="layer 4"/>
          <p:cNvSpPr/>
          <p:nvPr/>
        </p:nvSpPr>
        <p:spPr>
          <a:xfrm>
            <a:off x="457200" y="3154680"/>
            <a:ext cx="822960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</p:sp>
      <p:sp>
        <p:nvSpPr>
          <p:cNvPr id="25" name="layer num 4"/>
          <p:cNvSpPr/>
          <p:nvPr/>
        </p:nvSpPr>
        <p:spPr>
          <a:xfrm>
            <a:off x="594360" y="3255264"/>
            <a:ext cx="365760" cy="36576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94360" y="3255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315468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LLM judge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3383280" y="3154680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Second opinion that can veto, never override, the validator</a:t>
            </a:r>
            <a:endParaRPr lang="en-US" sz="1200" dirty="0"/>
          </a:p>
        </p:txBody>
      </p:sp>
      <p:sp>
        <p:nvSpPr>
          <p:cNvPr id="29" name="layer tag 4"/>
          <p:cNvSpPr/>
          <p:nvPr/>
        </p:nvSpPr>
        <p:spPr>
          <a:xfrm>
            <a:off x="7406640" y="3300984"/>
            <a:ext cx="1143000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406640" y="330098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LLM</a:t>
            </a:r>
            <a:endParaRPr lang="en-US" sz="1100" dirty="0"/>
          </a:p>
        </p:txBody>
      </p:sp>
      <p:sp>
        <p:nvSpPr>
          <p:cNvPr id="31" name="layer 5"/>
          <p:cNvSpPr/>
          <p:nvPr/>
        </p:nvSpPr>
        <p:spPr>
          <a:xfrm>
            <a:off x="457200" y="3840480"/>
            <a:ext cx="822960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</p:sp>
      <p:sp>
        <p:nvSpPr>
          <p:cNvPr id="32" name="layer num 5"/>
          <p:cNvSpPr/>
          <p:nvPr/>
        </p:nvSpPr>
        <p:spPr>
          <a:xfrm>
            <a:off x="594360" y="3941064"/>
            <a:ext cx="365760" cy="36576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94360" y="3941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1097280" y="384048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Read-only role + transaction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3383280" y="3840480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Postgres itself refuses writes; every transaction is rolled back</a:t>
            </a:r>
            <a:endParaRPr lang="en-US" sz="1200" dirty="0"/>
          </a:p>
        </p:txBody>
      </p:sp>
      <p:sp>
        <p:nvSpPr>
          <p:cNvPr id="36" name="layer tag 5"/>
          <p:cNvSpPr/>
          <p:nvPr/>
        </p:nvSpPr>
        <p:spPr>
          <a:xfrm>
            <a:off x="7406640" y="3986784"/>
            <a:ext cx="114300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406640" y="398678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Deterministic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Sensitive data is protected at every step</a:t>
            </a:r>
            <a:endParaRPr lang="en-US" sz="3000" dirty="0"/>
          </a:p>
        </p:txBody>
      </p:sp>
      <p:sp>
        <p:nvSpPr>
          <p:cNvPr id="3" name="Input refusal circle"/>
          <p:cNvSpPr/>
          <p:nvPr/>
        </p:nvSpPr>
        <p:spPr>
          <a:xfrm>
            <a:off x="457200" y="11430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Input refusal icon" descr="Input refus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80160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3000" y="11430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Input refusal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78308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Requests for emails, phones, passwords, keys or card numbers are refused before any LLM call.</a:t>
            </a:r>
            <a:endParaRPr lang="en-US" sz="1300" dirty="0"/>
          </a:p>
        </p:txBody>
      </p:sp>
      <p:sp>
        <p:nvSpPr>
          <p:cNvPr id="7" name="Schema hiding circle"/>
          <p:cNvSpPr/>
          <p:nvPr/>
        </p:nvSpPr>
        <p:spPr>
          <a:xfrm>
            <a:off x="3291840" y="11430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Schema hiding icon" descr="Schema hid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28016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977640" y="11430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Schema hiding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3291840" y="178308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Sensitive columns are removed from the schema the LLM sees.</a:t>
            </a:r>
            <a:endParaRPr lang="en-US" sz="1300" dirty="0"/>
          </a:p>
        </p:txBody>
      </p:sp>
      <p:sp>
        <p:nvSpPr>
          <p:cNvPr id="11" name="SQL validator circle"/>
          <p:cNvSpPr/>
          <p:nvPr/>
        </p:nvSpPr>
        <p:spPr>
          <a:xfrm>
            <a:off x="6126480" y="11430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SQL validator icon" descr="SQL validato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8016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812280" y="11430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SQL validator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6126480" y="178308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Any query that references a sensitive column is rejected.</a:t>
            </a:r>
            <a:endParaRPr lang="en-US" sz="1300" dirty="0"/>
          </a:p>
        </p:txBody>
      </p:sp>
      <p:sp>
        <p:nvSpPr>
          <p:cNvPr id="15" name="Column-level grants circle"/>
          <p:cNvSpPr/>
          <p:nvPr/>
        </p:nvSpPr>
        <p:spPr>
          <a:xfrm>
            <a:off x="457200" y="283464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6" name="Column-level grants icon" descr="Column-level grant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971800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43000" y="28346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Column-level grants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457200" y="347472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The analyst_ro role cannot SELECT those columns at all.</a:t>
            </a:r>
            <a:endParaRPr lang="en-US" sz="1300" dirty="0"/>
          </a:p>
        </p:txBody>
      </p:sp>
      <p:sp>
        <p:nvSpPr>
          <p:cNvPr id="19" name="Output redaction circle"/>
          <p:cNvSpPr/>
          <p:nvPr/>
        </p:nvSpPr>
        <p:spPr>
          <a:xfrm>
            <a:off x="3291840" y="2834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Output redaction icon" descr="Output redacti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297180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3977640" y="28346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Output redaction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3291840" y="347472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Emails, phones, cards, API keys and tokens are masked in every cell and answer.</a:t>
            </a:r>
            <a:endParaRPr lang="en-US" sz="1300" dirty="0"/>
          </a:p>
        </p:txBody>
      </p:sp>
      <p:sp>
        <p:nvSpPr>
          <p:cNvPr id="23" name="Injection defence circle"/>
          <p:cNvSpPr/>
          <p:nvPr/>
        </p:nvSpPr>
        <p:spPr>
          <a:xfrm>
            <a:off x="6126480" y="283464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4" name="Injection defence icon" descr="Injection defenc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2971800"/>
            <a:ext cx="274320" cy="27432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6812280" y="28346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Injection defence</a:t>
            </a:r>
            <a:endParaRPr lang="en-US" sz="1500" dirty="0"/>
          </a:p>
        </p:txBody>
      </p:sp>
      <p:sp>
        <p:nvSpPr>
          <p:cNvPr id="26" name="Text 18"/>
          <p:cNvSpPr txBox="1"/>
          <p:nvPr/>
        </p:nvSpPr>
        <p:spPr>
          <a:xfrm>
            <a:off x="6126480" y="347472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Injection phrases blocked; user text is wrapped and treated as data.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Cheap where possible, strong where needed</a:t>
            </a:r>
            <a:endParaRPr lang="en-US" sz="3000" dirty="0"/>
          </a:p>
        </p:txBody>
      </p:sp>
      <p:sp>
        <p:nvSpPr>
          <p:cNvPr id="3" name="stat 0"/>
          <p:cNvSpPr/>
          <p:nvPr/>
        </p:nvSpPr>
        <p:spPr>
          <a:xfrm>
            <a:off x="457200" y="1097280"/>
            <a:ext cx="3931920" cy="1051560"/>
          </a:xfrm>
          <a:prstGeom prst="roundRect">
            <a:avLst>
              <a:gd name="adj" fmla="val 6957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09728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2423160" y="109728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LLM tokens spent on a blocked question (returns in about 10 ms)</a:t>
            </a:r>
            <a:endParaRPr lang="en-US" sz="1200" dirty="0"/>
          </a:p>
        </p:txBody>
      </p:sp>
      <p:sp>
        <p:nvSpPr>
          <p:cNvPr id="6" name="stat 1"/>
          <p:cNvSpPr/>
          <p:nvPr/>
        </p:nvSpPr>
        <p:spPr>
          <a:xfrm>
            <a:off x="457200" y="2286000"/>
            <a:ext cx="3931920" cy="1051560"/>
          </a:xfrm>
          <a:prstGeom prst="roundRect">
            <a:avLst>
              <a:gd name="adj" fmla="val 6957"/>
            </a:avLst>
          </a:prstGeom>
          <a:solidFill>
            <a:schemeClr val="tx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28600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&lt;100 ms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2423160" y="228600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Time to first progress update, thanks to streaming</a:t>
            </a:r>
            <a:endParaRPr lang="en-US" sz="1200" dirty="0"/>
          </a:p>
        </p:txBody>
      </p:sp>
      <p:sp>
        <p:nvSpPr>
          <p:cNvPr id="9" name="stat 2"/>
          <p:cNvSpPr/>
          <p:nvPr/>
        </p:nvSpPr>
        <p:spPr>
          <a:xfrm>
            <a:off x="457200" y="3474720"/>
            <a:ext cx="3931920" cy="1051560"/>
          </a:xfrm>
          <a:prstGeom prst="roundRect">
            <a:avLst>
              <a:gd name="adj" fmla="val 6957"/>
            </a:avLst>
          </a:prstGeom>
          <a:solidFill>
            <a:schemeClr val="tx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47472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min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2423160" y="347472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Schema cache lifetime; introspection used to run twice per request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1143000"/>
            <a:ext cx="39319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Intent + curation merged — one LLM call instead of two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Model tiering — expensive model only on retries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Connection pool + cached clients — no setup cost per request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Deterministic chart picker — no LLM call for visuals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Bounded summary prompt — UI still gets every row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Timeout + LIMIT cap — protects database and latency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step gets the model it needs</a:t>
            </a:r>
            <a:endParaRPr lang="en-US" sz="3000" dirty="0"/>
          </a:p>
        </p:txBody>
      </p:sp>
      <p:sp>
        <p:nvSpPr>
          <p:cNvPr id="3" name="Low tier"/>
          <p:cNvSpPr/>
          <p:nvPr/>
        </p:nvSpPr>
        <p:spPr>
          <a:xfrm>
            <a:off x="457200" y="1143000"/>
            <a:ext cx="256032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4" name="Low circle"/>
          <p:cNvSpPr/>
          <p:nvPr/>
        </p:nvSpPr>
        <p:spPr>
          <a:xfrm>
            <a:off x="731520" y="137160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Low icon" descr="Lo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110" y="152019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3716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tier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19456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Question curation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Intent classification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LLM safety judge</a:t>
            </a:r>
            <a:endParaRPr lang="en-US" sz="1400" dirty="0"/>
          </a:p>
        </p:txBody>
      </p:sp>
      <p:sp>
        <p:nvSpPr>
          <p:cNvPr id="8" name="Medium tier"/>
          <p:cNvSpPr/>
          <p:nvPr/>
        </p:nvSpPr>
        <p:spPr>
          <a:xfrm>
            <a:off x="3291840" y="1143000"/>
            <a:ext cx="256032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9" name="Medium circle"/>
          <p:cNvSpPr/>
          <p:nvPr/>
        </p:nvSpPr>
        <p:spPr>
          <a:xfrm>
            <a:off x="3566160" y="137160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0" name="Medium icon" descr="Mediu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50" y="1520190"/>
            <a:ext cx="297180" cy="2971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297680" y="13716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Medium tier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566160" y="219456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SQL generation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Final answer</a:t>
            </a:r>
            <a:endParaRPr lang="en-US" sz="1400" dirty="0"/>
          </a:p>
        </p:txBody>
      </p:sp>
      <p:sp>
        <p:nvSpPr>
          <p:cNvPr id="13" name="High tier"/>
          <p:cNvSpPr/>
          <p:nvPr/>
        </p:nvSpPr>
        <p:spPr>
          <a:xfrm>
            <a:off x="6126480" y="1143000"/>
            <a:ext cx="256032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14" name="High circle"/>
          <p:cNvSpPr/>
          <p:nvPr/>
        </p:nvSpPr>
        <p:spPr>
          <a:xfrm>
            <a:off x="6400800" y="13716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High icon" descr="Hig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9390" y="1520190"/>
            <a:ext cx="297180" cy="2971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132320" y="13716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tier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0" y="219456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SQL self-correction after a failed attempt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3794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Models are set per tier with LLM_MODEL_LOW / MEDIUM / HIGH; clients are cached so HTTP connections are reused.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Measured, not assumed</a:t>
            </a:r>
            <a:endParaRPr lang="en-US" sz="3000" dirty="0"/>
          </a:p>
        </p:txBody>
      </p:sp>
      <p:graphicFrame>
        <p:nvGraphicFramePr>
          <p:cNvPr id="3" name="eval chart" descr=""/>
          <p:cNvGraphicFramePr/>
          <p:nvPr/>
        </p:nvGraphicFramePr>
        <p:xfrm>
          <a:off x="457200" y="1051560"/>
          <a:ext cx="475488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0" y="1097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What run_evals.py reports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5486400" y="15087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Execution accuracy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result set matches the gold SQL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0" y="20574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Guardrail accuracy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blocked cases never run SQL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0" y="26060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Answer quality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LLM judge scores 1–5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31546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Latency p50 / p95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plus average SQL attempts</a:t>
            </a:r>
            <a:endParaRPr lang="en-US" sz="1400" dirty="0"/>
          </a:p>
        </p:txBody>
      </p:sp>
      <p:sp>
        <p:nvSpPr>
          <p:cNvPr id="9" name="tests stat"/>
          <p:cNvSpPr/>
          <p:nvPr/>
        </p:nvSpPr>
        <p:spPr>
          <a:xfrm>
            <a:off x="5486400" y="3794760"/>
            <a:ext cx="3200400" cy="777240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623560" y="379476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6446520" y="37947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offline unit tests (no LLM or DB) run on every push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Answers stream into a chat UI</a:t>
            </a:r>
            <a:endParaRPr lang="en-US" sz="3000" dirty="0"/>
          </a:p>
        </p:txBody>
      </p:sp>
      <p:graphicFrame>
        <p:nvGraphicFramePr>
          <p:cNvPr id="11" name="SSE even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42062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30175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SSE event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UI shows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Progress list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Collapsible “View SQL”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 with CSV download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 / line / pie / scatter / KPI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 text, appended live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state and latency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Recharts views circle"/>
          <p:cNvSpPr/>
          <p:nvPr/>
        </p:nvSpPr>
        <p:spPr>
          <a:xfrm>
            <a:off x="5029200" y="109728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5" name="Recharts views icon" descr="Recharts view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54930" y="1223010"/>
            <a:ext cx="251460" cy="25146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669280" y="10515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Recharts views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Bar, line, donut and scatter, with a Chart/Table toggle; lazy-loaded.</a:t>
            </a:r>
            <a:endParaRPr lang="en-US" sz="1400" dirty="0"/>
          </a:p>
        </p:txBody>
      </p:sp>
      <p:sp>
        <p:nvSpPr>
          <p:cNvPr id="7" name="Stop and follow-ups circle"/>
          <p:cNvSpPr/>
          <p:nvPr/>
        </p:nvSpPr>
        <p:spPr>
          <a:xfrm>
            <a:off x="5029200" y="224028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Stop and follow-ups icon" descr="Stop and follow-up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4930" y="2366010"/>
            <a:ext cx="251460" cy="25146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669280" y="21945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Stop and follow-ups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AbortController stops a run; last 6 turns sent for follow-up questions.</a:t>
            </a:r>
            <a:endParaRPr lang="en-US" sz="1400" dirty="0"/>
          </a:p>
        </p:txBody>
      </p:sp>
      <p:sp>
        <p:nvSpPr>
          <p:cNvPr id="10" name="Light and dark mode circle"/>
          <p:cNvSpPr/>
          <p:nvPr/>
        </p:nvSpPr>
        <p:spPr>
          <a:xfrm>
            <a:off x="5029200" y="338328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1" name="Light and dark mode icon" descr="Light and dark mod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4930" y="3509010"/>
            <a:ext cx="251460" cy="25146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5669280" y="33375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Light and dark mode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Colour-blind-safe palette, responsive down to phone width.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Containerised, tested and deployable for free</a:t>
            </a:r>
            <a:endParaRPr lang="en-US" sz="3000" dirty="0"/>
          </a:p>
        </p:txBody>
      </p:sp>
      <p:sp>
        <p:nvSpPr>
          <p:cNvPr id="3" name="ci Ruff lint"/>
          <p:cNvSpPr/>
          <p:nvPr/>
        </p:nvSpPr>
        <p:spPr>
          <a:xfrm>
            <a:off x="457200" y="1143000"/>
            <a:ext cx="1691640" cy="594360"/>
          </a:xfrm>
          <a:prstGeom prst="homePlate">
            <a:avLst/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14300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Ruff lint</a:t>
            </a:r>
            <a:endParaRPr lang="en-US" sz="1300" dirty="0"/>
          </a:p>
        </p:txBody>
      </p:sp>
      <p:sp>
        <p:nvSpPr>
          <p:cNvPr id="5" name="ci Pytest"/>
          <p:cNvSpPr/>
          <p:nvPr/>
        </p:nvSpPr>
        <p:spPr>
          <a:xfrm>
            <a:off x="2093976" y="1143000"/>
            <a:ext cx="1691640" cy="594360"/>
          </a:xfrm>
          <a:prstGeom prst="chevron">
            <a:avLst/>
          </a:prstGeom>
          <a:solidFill>
            <a:schemeClr val="tx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414016" y="114300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Pytest</a:t>
            </a:r>
            <a:endParaRPr lang="en-US" sz="1300" dirty="0"/>
          </a:p>
        </p:txBody>
      </p:sp>
      <p:sp>
        <p:nvSpPr>
          <p:cNvPr id="7" name="ci UI build"/>
          <p:cNvSpPr/>
          <p:nvPr/>
        </p:nvSpPr>
        <p:spPr>
          <a:xfrm>
            <a:off x="3730752" y="1143000"/>
            <a:ext cx="1691640" cy="594360"/>
          </a:xfrm>
          <a:prstGeom prst="chevron">
            <a:avLst/>
          </a:prstGeom>
          <a:solidFill>
            <a:schemeClr val="tx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050792" y="114300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UI build</a:t>
            </a:r>
            <a:endParaRPr lang="en-US" sz="1300" dirty="0"/>
          </a:p>
        </p:txBody>
      </p:sp>
      <p:sp>
        <p:nvSpPr>
          <p:cNvPr id="9" name="ci Docker build"/>
          <p:cNvSpPr/>
          <p:nvPr/>
        </p:nvSpPr>
        <p:spPr>
          <a:xfrm>
            <a:off x="5367528" y="1143000"/>
            <a:ext cx="1691640" cy="594360"/>
          </a:xfrm>
          <a:prstGeom prst="chevron">
            <a:avLst/>
          </a:prstGeom>
          <a:solidFill>
            <a:schemeClr val="tx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87568" y="114300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Docker build</a:t>
            </a:r>
            <a:endParaRPr lang="en-US" sz="1300" dirty="0"/>
          </a:p>
        </p:txBody>
      </p:sp>
      <p:sp>
        <p:nvSpPr>
          <p:cNvPr id="11" name="ci LLM evals"/>
          <p:cNvSpPr/>
          <p:nvPr/>
        </p:nvSpPr>
        <p:spPr>
          <a:xfrm>
            <a:off x="7004304" y="1143000"/>
            <a:ext cx="1691640" cy="594360"/>
          </a:xfrm>
          <a:prstGeom prst="chevron">
            <a:avLst/>
          </a:prstGeom>
          <a:solidFill>
            <a:schemeClr val="accent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24344" y="114300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LLM evals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GitHub Actions on every push and PR; the LLM eval job runs on demand before prompt or model changes.</a:t>
            </a:r>
            <a:endParaRPr lang="en-US" sz="1200" dirty="0"/>
          </a:p>
        </p:txBody>
      </p:sp>
      <p:sp>
        <p:nvSpPr>
          <p:cNvPr id="14" name="Docker card"/>
          <p:cNvSpPr/>
          <p:nvPr/>
        </p:nvSpPr>
        <p:spPr>
          <a:xfrm>
            <a:off x="457200" y="2377440"/>
            <a:ext cx="256032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5" name="Docker circle"/>
          <p:cNvSpPr/>
          <p:nvPr/>
        </p:nvSpPr>
        <p:spPr>
          <a:xfrm>
            <a:off x="685800" y="256032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6" name="Docker icon" descr="Dock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530" y="2686050"/>
            <a:ext cx="251460" cy="25146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325880" y="25603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685800" y="320040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Multi-stage image: Node builds the UI, slim Python 3.13 serves UI + API as a non-root user with a health check.</a:t>
            </a:r>
            <a:endParaRPr lang="en-US" sz="1200" dirty="0"/>
          </a:p>
        </p:txBody>
      </p:sp>
      <p:sp>
        <p:nvSpPr>
          <p:cNvPr id="19" name="Supabase card"/>
          <p:cNvSpPr/>
          <p:nvPr/>
        </p:nvSpPr>
        <p:spPr>
          <a:xfrm>
            <a:off x="3291840" y="2377440"/>
            <a:ext cx="256032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20" name="Supabase circle"/>
          <p:cNvSpPr/>
          <p:nvPr/>
        </p:nvSpPr>
        <p:spPr>
          <a:xfrm>
            <a:off x="3520440" y="256032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1" name="Supabase icon" descr="Supaba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6170" y="2686050"/>
            <a:ext cx="251460" cy="25146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4160520" y="25603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Supabase</a:t>
            </a:r>
            <a:endParaRPr lang="en-US" sz="1700" dirty="0"/>
          </a:p>
        </p:txBody>
      </p:sp>
      <p:sp>
        <p:nvSpPr>
          <p:cNvPr id="23" name="Text 19"/>
          <p:cNvSpPr txBox="1"/>
          <p:nvPr/>
        </p:nvSpPr>
        <p:spPr>
          <a:xfrm>
            <a:off x="3520440" y="320040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Hosts PostgreSQL; setup locks tables away from the public REST API with RLS.</a:t>
            </a:r>
            <a:endParaRPr lang="en-US" sz="1200" dirty="0"/>
          </a:p>
        </p:txBody>
      </p:sp>
      <p:sp>
        <p:nvSpPr>
          <p:cNvPr id="24" name="Render card"/>
          <p:cNvSpPr/>
          <p:nvPr/>
        </p:nvSpPr>
        <p:spPr>
          <a:xfrm>
            <a:off x="6126480" y="2377440"/>
            <a:ext cx="256032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25" name="Render circle"/>
          <p:cNvSpPr/>
          <p:nvPr/>
        </p:nvSpPr>
        <p:spPr>
          <a:xfrm>
            <a:off x="6355080" y="2560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Render icon" descr="Rend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810" y="2686050"/>
            <a:ext cx="251460" cy="25146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6995160" y="25603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</a:t>
            </a:r>
            <a:endParaRPr lang="en-US" sz="1700" dirty="0"/>
          </a:p>
        </p:txBody>
      </p:sp>
      <p:sp>
        <p:nvSpPr>
          <p:cNvPr id="28" name="Text 23"/>
          <p:cNvSpPr txBox="1"/>
          <p:nvPr/>
        </p:nvSpPr>
        <p:spPr>
          <a:xfrm>
            <a:off x="6355080" y="320040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Blueprint creates the web service; every push to the default branch redeploys.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in English, trust the answer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146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Three ideas carry the project:</a:t>
            </a:r>
            <a:endParaRPr lang="en-US" sz="2000" dirty="0"/>
          </a:p>
        </p:txBody>
      </p:sp>
      <p:sp>
        <p:nvSpPr>
          <p:cNvPr id="4" name="Natural language to SQL circle"/>
          <p:cNvSpPr/>
          <p:nvPr/>
        </p:nvSpPr>
        <p:spPr>
          <a:xfrm>
            <a:off x="548640" y="31546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Natural language to SQL icon" descr="Natural language to SQ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" y="3268980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3000" y="310896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Natural language to SQL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Anyone can query the data and still see the exact SQL.</a:t>
            </a:r>
            <a:endParaRPr lang="en-US" sz="1400" dirty="0"/>
          </a:p>
        </p:txBody>
      </p:sp>
      <p:sp>
        <p:nvSpPr>
          <p:cNvPr id="7" name="Defence in depth circle"/>
          <p:cNvSpPr/>
          <p:nvPr/>
        </p:nvSpPr>
        <p:spPr>
          <a:xfrm>
            <a:off x="3291840" y="31546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Defence in depth icon" descr="Defence in dept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6140" y="3268980"/>
            <a:ext cx="228600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886200" y="310896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Defence in depth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Writes and PII are blocked by deterministic checks, not just an LLM.</a:t>
            </a:r>
            <a:endParaRPr lang="en-US" sz="1400" dirty="0"/>
          </a:p>
        </p:txBody>
      </p:sp>
      <p:sp>
        <p:nvSpPr>
          <p:cNvPr id="10" name="Measured quality circle"/>
          <p:cNvSpPr/>
          <p:nvPr/>
        </p:nvSpPr>
        <p:spPr>
          <a:xfrm>
            <a:off x="6035040" y="31546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Measured quality icon" descr="Measured qualit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9340" y="3268980"/>
            <a:ext cx="228600" cy="2286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629400" y="310896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Measured quality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Gold evals, 72 tests and CI keep changes honest.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ral Ink">
  <a:themeElements>
    <a:clrScheme name="Coral Ink">
      <a:dk1>
        <a:srgbClr val="1B1F3B"/>
      </a:dk1>
      <a:lt1>
        <a:srgbClr val="FFFFFF"/>
      </a:lt1>
      <a:dk2>
        <a:srgbClr val="4A5070"/>
      </a:dk2>
      <a:lt2>
        <a:srgbClr val="F2F3F7"/>
      </a:lt2>
      <a:accent1>
        <a:srgbClr val="E8604C"/>
      </a:accent1>
      <a:accent2>
        <a:srgbClr val="14A098"/>
      </a:accent2>
      <a:accent3>
        <a:srgbClr val="E9A23B"/>
      </a:accent3>
      <a:accent4>
        <a:srgbClr val="5B5FC7"/>
      </a:accent4>
      <a:accent5>
        <a:srgbClr val="3D8B5F"/>
      </a:accent5>
      <a:accent6>
        <a:srgbClr val="8A8FA8"/>
      </a:accent6>
      <a:hlink>
        <a:srgbClr val="14A098"/>
      </a:hlink>
      <a:folHlink>
        <a:srgbClr val="5B5FC7"/>
      </a:folHlink>
    </a:clrScheme>
    <a:fontScheme name="Coral In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Airbnb SQL Analyst</dc:title>
  <dc:subject>PptxGenJS Presentation</dc:subject>
  <dc:creator>Ankit Bisen</dc:creator>
  <cp:lastModifiedBy>Ankit Bisen</cp:lastModifiedBy>
  <cp:revision>1</cp:revision>
  <dcterms:created xsi:type="dcterms:W3CDTF">2026-10-26T12:00:51Z</dcterms:created>
  <dcterms:modified xsi:type="dcterms:W3CDTF">2026-10-26T12:00:51Z</dcterms:modified>
</cp:coreProperties>
</file>